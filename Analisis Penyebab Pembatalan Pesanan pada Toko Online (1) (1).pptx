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Klein" panose="020B0604020202020204" charset="0"/>
      <p:regular r:id="rId21"/>
    </p:embeddedFont>
    <p:embeddedFont>
      <p:font typeface="Klein Bold" panose="020B0604020202020204" charset="0"/>
      <p:regular r:id="rId22"/>
    </p:embeddedFont>
    <p:embeddedFont>
      <p:font typeface="Raleway Light" panose="020B0604020202020204" charset="0"/>
      <p:regular r:id="rId23"/>
    </p:embeddedFont>
    <p:embeddedFont>
      <p:font typeface="Raleway 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384" y="-4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package" Target="../embeddings/Microsoft_Excel_Worksheet1.xlsx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5.svg"/><Relationship Id="rId5" Type="http://schemas.openxmlformats.org/officeDocument/2006/relationships/image" Target="../media/image8.svg"/><Relationship Id="rId1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svg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9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15" Type="http://schemas.openxmlformats.org/officeDocument/2006/relationships/image" Target="../media/image21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3739" y="3440790"/>
            <a:ext cx="13340521" cy="247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6999" b="1">
                <a:solidFill>
                  <a:srgbClr val="2C5749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ANALISIS PENYEBAB PEMBATALAN PESANAN PADA TOKO ONLINE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9273115">
            <a:off x="15451019" y="-1038244"/>
            <a:ext cx="3977820" cy="3457087"/>
          </a:xfrm>
          <a:custGeom>
            <a:avLst/>
            <a:gdLst/>
            <a:ahLst/>
            <a:cxnLst/>
            <a:rect l="l" t="t" r="r" b="b"/>
            <a:pathLst>
              <a:path w="3977820" h="3457087">
                <a:moveTo>
                  <a:pt x="0" y="0"/>
                </a:moveTo>
                <a:lnTo>
                  <a:pt x="3977820" y="0"/>
                </a:lnTo>
                <a:lnTo>
                  <a:pt x="3977820" y="3457087"/>
                </a:lnTo>
                <a:lnTo>
                  <a:pt x="0" y="345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210893" y="6867660"/>
            <a:ext cx="5866213" cy="910268"/>
            <a:chOff x="0" y="0"/>
            <a:chExt cx="1439444" cy="223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9444" cy="223360"/>
            </a:xfrm>
            <a:custGeom>
              <a:avLst/>
              <a:gdLst/>
              <a:ahLst/>
              <a:cxnLst/>
              <a:rect l="l" t="t" r="r" b="b"/>
              <a:pathLst>
                <a:path w="1439444" h="223360">
                  <a:moveTo>
                    <a:pt x="67307" y="0"/>
                  </a:moveTo>
                  <a:lnTo>
                    <a:pt x="1372136" y="0"/>
                  </a:lnTo>
                  <a:cubicBezTo>
                    <a:pt x="1389987" y="0"/>
                    <a:pt x="1407107" y="7091"/>
                    <a:pt x="1419730" y="19714"/>
                  </a:cubicBezTo>
                  <a:cubicBezTo>
                    <a:pt x="1432352" y="32336"/>
                    <a:pt x="1439444" y="49456"/>
                    <a:pt x="1439444" y="67307"/>
                  </a:cubicBezTo>
                  <a:lnTo>
                    <a:pt x="1439444" y="156053"/>
                  </a:lnTo>
                  <a:cubicBezTo>
                    <a:pt x="1439444" y="193226"/>
                    <a:pt x="1409309" y="223360"/>
                    <a:pt x="1372136" y="223360"/>
                  </a:cubicBezTo>
                  <a:lnTo>
                    <a:pt x="67307" y="223360"/>
                  </a:lnTo>
                  <a:cubicBezTo>
                    <a:pt x="30134" y="223360"/>
                    <a:pt x="0" y="193226"/>
                    <a:pt x="0" y="156053"/>
                  </a:cubicBezTo>
                  <a:lnTo>
                    <a:pt x="0" y="67307"/>
                  </a:lnTo>
                  <a:cubicBezTo>
                    <a:pt x="0" y="30134"/>
                    <a:pt x="30134" y="0"/>
                    <a:pt x="67307" y="0"/>
                  </a:cubicBezTo>
                  <a:close/>
                </a:path>
              </a:pathLst>
            </a:custGeom>
            <a:solidFill>
              <a:srgbClr val="B4540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39444" cy="280510"/>
            </a:xfrm>
            <a:prstGeom prst="rect">
              <a:avLst/>
            </a:prstGeom>
          </p:spPr>
          <p:txBody>
            <a:bodyPr lIns="54526" tIns="54526" rIns="54526" bIns="54526" rtlCol="0" anchor="ctr"/>
            <a:lstStyle/>
            <a:p>
              <a:pPr algn="ctr">
                <a:lnSpc>
                  <a:spcPts val="29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309845">
            <a:off x="-482856" y="5325506"/>
            <a:ext cx="2155755" cy="2693748"/>
            <a:chOff x="0" y="0"/>
            <a:chExt cx="2874340" cy="3591664"/>
          </a:xfrm>
        </p:grpSpPr>
        <p:sp>
          <p:nvSpPr>
            <p:cNvPr id="12" name="Freeform 12"/>
            <p:cNvSpPr/>
            <p:nvPr/>
          </p:nvSpPr>
          <p:spPr>
            <a:xfrm rot="4446401">
              <a:off x="2076512" y="2364915"/>
              <a:ext cx="256970" cy="370983"/>
            </a:xfrm>
            <a:custGeom>
              <a:avLst/>
              <a:gdLst/>
              <a:ahLst/>
              <a:cxnLst/>
              <a:rect l="l" t="t" r="r" b="b"/>
              <a:pathLst>
                <a:path w="256970" h="370983">
                  <a:moveTo>
                    <a:pt x="0" y="0"/>
                  </a:moveTo>
                  <a:lnTo>
                    <a:pt x="256970" y="0"/>
                  </a:lnTo>
                  <a:lnTo>
                    <a:pt x="256970" y="370984"/>
                  </a:lnTo>
                  <a:lnTo>
                    <a:pt x="0" y="3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4446401">
              <a:off x="1234228" y="1302346"/>
              <a:ext cx="288065" cy="353354"/>
            </a:xfrm>
            <a:custGeom>
              <a:avLst/>
              <a:gdLst/>
              <a:ahLst/>
              <a:cxnLst/>
              <a:rect l="l" t="t" r="r" b="b"/>
              <a:pathLst>
                <a:path w="288065" h="353354">
                  <a:moveTo>
                    <a:pt x="0" y="0"/>
                  </a:moveTo>
                  <a:lnTo>
                    <a:pt x="288065" y="0"/>
                  </a:lnTo>
                  <a:lnTo>
                    <a:pt x="288065" y="353354"/>
                  </a:lnTo>
                  <a:lnTo>
                    <a:pt x="0" y="35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5944262">
              <a:off x="2117858" y="1331671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2709100">
              <a:off x="300777" y="1711490"/>
              <a:ext cx="1169144" cy="1334572"/>
            </a:xfrm>
            <a:custGeom>
              <a:avLst/>
              <a:gdLst/>
              <a:ahLst/>
              <a:cxnLst/>
              <a:rect l="l" t="t" r="r" b="b"/>
              <a:pathLst>
                <a:path w="1169144" h="1334572">
                  <a:moveTo>
                    <a:pt x="0" y="0"/>
                  </a:moveTo>
                  <a:lnTo>
                    <a:pt x="1169144" y="0"/>
                  </a:lnTo>
                  <a:lnTo>
                    <a:pt x="1169144" y="1334573"/>
                  </a:lnTo>
                  <a:lnTo>
                    <a:pt x="0" y="133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161751" t="-404672" r="-22320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4446401">
              <a:off x="1425074" y="284192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4446401">
              <a:off x="1759804" y="577797"/>
              <a:ext cx="359384" cy="440837"/>
            </a:xfrm>
            <a:custGeom>
              <a:avLst/>
              <a:gdLst/>
              <a:ahLst/>
              <a:cxnLst/>
              <a:rect l="l" t="t" r="r" b="b"/>
              <a:pathLst>
                <a:path w="359384" h="440837">
                  <a:moveTo>
                    <a:pt x="0" y="0"/>
                  </a:moveTo>
                  <a:lnTo>
                    <a:pt x="359384" y="0"/>
                  </a:lnTo>
                  <a:lnTo>
                    <a:pt x="359384" y="440837"/>
                  </a:lnTo>
                  <a:lnTo>
                    <a:pt x="0" y="44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4446401">
              <a:off x="805041" y="329419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4446401">
              <a:off x="2202801" y="3074680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0" y="0"/>
                  </a:lnTo>
                  <a:lnTo>
                    <a:pt x="409600" y="502435"/>
                  </a:lnTo>
                  <a:lnTo>
                    <a:pt x="0" y="50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944262">
              <a:off x="621780" y="39557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5" y="0"/>
                  </a:lnTo>
                  <a:lnTo>
                    <a:pt x="693515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9734" y="9204153"/>
            <a:ext cx="4060507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34"/>
              </a:lnSpc>
            </a:pPr>
            <a:r>
              <a:rPr lang="en-US" sz="2299" spc="57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Oleh : Achsanul Khizam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77881" y="6979026"/>
            <a:ext cx="4532238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9"/>
              </a:lnSpc>
              <a:spcBef>
                <a:spcPct val="0"/>
              </a:spcBef>
            </a:pPr>
            <a:r>
              <a:rPr lang="en-US" sz="3399" spc="339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Portofolio 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58604">
            <a:off x="-1258731" y="6749642"/>
            <a:ext cx="2639584" cy="2694466"/>
          </a:xfrm>
          <a:custGeom>
            <a:avLst/>
            <a:gdLst/>
            <a:ahLst/>
            <a:cxnLst/>
            <a:rect l="l" t="t" r="r" b="b"/>
            <a:pathLst>
              <a:path w="2639584" h="2694466">
                <a:moveTo>
                  <a:pt x="0" y="0"/>
                </a:moveTo>
                <a:lnTo>
                  <a:pt x="2639585" y="0"/>
                </a:lnTo>
                <a:lnTo>
                  <a:pt x="2639585" y="2694466"/>
                </a:lnTo>
                <a:lnTo>
                  <a:pt x="0" y="269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81472" y="3213835"/>
            <a:ext cx="14325056" cy="5655227"/>
            <a:chOff x="0" y="0"/>
            <a:chExt cx="3620698" cy="14293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0698" cy="1429374"/>
            </a:xfrm>
            <a:custGeom>
              <a:avLst/>
              <a:gdLst/>
              <a:ahLst/>
              <a:cxnLst/>
              <a:rect l="l" t="t" r="r" b="b"/>
              <a:pathLst>
                <a:path w="3620698" h="1429374">
                  <a:moveTo>
                    <a:pt x="16213" y="0"/>
                  </a:moveTo>
                  <a:lnTo>
                    <a:pt x="3604484" y="0"/>
                  </a:lnTo>
                  <a:cubicBezTo>
                    <a:pt x="3608784" y="0"/>
                    <a:pt x="3612908" y="1708"/>
                    <a:pt x="3615949" y="4749"/>
                  </a:cubicBezTo>
                  <a:cubicBezTo>
                    <a:pt x="3618990" y="7789"/>
                    <a:pt x="3620698" y="11913"/>
                    <a:pt x="3620698" y="16213"/>
                  </a:cubicBezTo>
                  <a:lnTo>
                    <a:pt x="3620698" y="1413161"/>
                  </a:lnTo>
                  <a:cubicBezTo>
                    <a:pt x="3620698" y="1417461"/>
                    <a:pt x="3618990" y="1421585"/>
                    <a:pt x="3615949" y="1424626"/>
                  </a:cubicBezTo>
                  <a:cubicBezTo>
                    <a:pt x="3612908" y="1427666"/>
                    <a:pt x="3608784" y="1429374"/>
                    <a:pt x="3604484" y="1429374"/>
                  </a:cubicBezTo>
                  <a:lnTo>
                    <a:pt x="16213" y="1429374"/>
                  </a:lnTo>
                  <a:cubicBezTo>
                    <a:pt x="11913" y="1429374"/>
                    <a:pt x="7789" y="1427666"/>
                    <a:pt x="4749" y="1424626"/>
                  </a:cubicBezTo>
                  <a:cubicBezTo>
                    <a:pt x="1708" y="1421585"/>
                    <a:pt x="0" y="1417461"/>
                    <a:pt x="0" y="1413161"/>
                  </a:cubicBezTo>
                  <a:lnTo>
                    <a:pt x="0" y="16213"/>
                  </a:lnTo>
                  <a:cubicBezTo>
                    <a:pt x="0" y="11913"/>
                    <a:pt x="1708" y="7789"/>
                    <a:pt x="4749" y="4749"/>
                  </a:cubicBezTo>
                  <a:cubicBezTo>
                    <a:pt x="7789" y="1708"/>
                    <a:pt x="11913" y="0"/>
                    <a:pt x="16213" y="0"/>
                  </a:cubicBezTo>
                  <a:close/>
                </a:path>
              </a:pathLst>
            </a:custGeom>
            <a:solidFill>
              <a:srgbClr val="B4540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0698" cy="1467474"/>
            </a:xfrm>
            <a:prstGeom prst="rect">
              <a:avLst/>
            </a:prstGeom>
          </p:spPr>
          <p:txBody>
            <a:bodyPr lIns="52935" tIns="52935" rIns="52935" bIns="52935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21893" y="3696494"/>
            <a:ext cx="12952282" cy="1493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7"/>
              </a:lnSpc>
              <a:spcBef>
                <a:spcPct val="0"/>
              </a:spcBef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“Dalam 3 bulan terakhir, toko online kita mengalami peningkatan pembatalan pesanan. Management mengetahui bahwa banyak order yang dibatalkan, tetapi kita belum mengetahui penyebab utamanya.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5273" y="1784609"/>
            <a:ext cx="13092988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55"/>
              </a:lnSpc>
              <a:spcBef>
                <a:spcPct val="0"/>
              </a:spcBef>
            </a:pPr>
            <a:r>
              <a:rPr lang="en-US" sz="10500" spc="-210">
                <a:solidFill>
                  <a:srgbClr val="2C5749"/>
                </a:solidFill>
                <a:latin typeface="Raleway Light"/>
                <a:ea typeface="Raleway Light"/>
                <a:cs typeface="Raleway Light"/>
                <a:sym typeface="Raleway Light"/>
              </a:rPr>
              <a:t>PROJECT MANAGER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 rot="10409852">
            <a:off x="16726686" y="522710"/>
            <a:ext cx="2155755" cy="2693748"/>
            <a:chOff x="0" y="0"/>
            <a:chExt cx="2874340" cy="3591664"/>
          </a:xfrm>
        </p:grpSpPr>
        <p:sp>
          <p:nvSpPr>
            <p:cNvPr id="14" name="Freeform 14"/>
            <p:cNvSpPr/>
            <p:nvPr/>
          </p:nvSpPr>
          <p:spPr>
            <a:xfrm rot="4446401">
              <a:off x="2076512" y="2364915"/>
              <a:ext cx="256970" cy="370983"/>
            </a:xfrm>
            <a:custGeom>
              <a:avLst/>
              <a:gdLst/>
              <a:ahLst/>
              <a:cxnLst/>
              <a:rect l="l" t="t" r="r" b="b"/>
              <a:pathLst>
                <a:path w="256970" h="370983">
                  <a:moveTo>
                    <a:pt x="0" y="0"/>
                  </a:moveTo>
                  <a:lnTo>
                    <a:pt x="256970" y="0"/>
                  </a:lnTo>
                  <a:lnTo>
                    <a:pt x="256970" y="370984"/>
                  </a:lnTo>
                  <a:lnTo>
                    <a:pt x="0" y="3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4446401">
              <a:off x="1234228" y="1302346"/>
              <a:ext cx="288065" cy="353354"/>
            </a:xfrm>
            <a:custGeom>
              <a:avLst/>
              <a:gdLst/>
              <a:ahLst/>
              <a:cxnLst/>
              <a:rect l="l" t="t" r="r" b="b"/>
              <a:pathLst>
                <a:path w="288065" h="353354">
                  <a:moveTo>
                    <a:pt x="0" y="0"/>
                  </a:moveTo>
                  <a:lnTo>
                    <a:pt x="288065" y="0"/>
                  </a:lnTo>
                  <a:lnTo>
                    <a:pt x="288065" y="353354"/>
                  </a:lnTo>
                  <a:lnTo>
                    <a:pt x="0" y="35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5944262">
              <a:off x="2117858" y="1331671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2709100">
              <a:off x="300777" y="1711490"/>
              <a:ext cx="1169144" cy="1334572"/>
            </a:xfrm>
            <a:custGeom>
              <a:avLst/>
              <a:gdLst/>
              <a:ahLst/>
              <a:cxnLst/>
              <a:rect l="l" t="t" r="r" b="b"/>
              <a:pathLst>
                <a:path w="1169144" h="1334572">
                  <a:moveTo>
                    <a:pt x="0" y="0"/>
                  </a:moveTo>
                  <a:lnTo>
                    <a:pt x="1169144" y="0"/>
                  </a:lnTo>
                  <a:lnTo>
                    <a:pt x="1169144" y="1334573"/>
                  </a:lnTo>
                  <a:lnTo>
                    <a:pt x="0" y="133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161751" t="-404672" r="-223204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4446401">
              <a:off x="1425074" y="284192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4446401">
              <a:off x="1759804" y="577797"/>
              <a:ext cx="359384" cy="440837"/>
            </a:xfrm>
            <a:custGeom>
              <a:avLst/>
              <a:gdLst/>
              <a:ahLst/>
              <a:cxnLst/>
              <a:rect l="l" t="t" r="r" b="b"/>
              <a:pathLst>
                <a:path w="359384" h="440837">
                  <a:moveTo>
                    <a:pt x="0" y="0"/>
                  </a:moveTo>
                  <a:lnTo>
                    <a:pt x="359384" y="0"/>
                  </a:lnTo>
                  <a:lnTo>
                    <a:pt x="359384" y="440837"/>
                  </a:lnTo>
                  <a:lnTo>
                    <a:pt x="0" y="44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4446401">
              <a:off x="805041" y="329419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4446401">
              <a:off x="2202801" y="3074680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0" y="0"/>
                  </a:lnTo>
                  <a:lnTo>
                    <a:pt x="409600" y="502435"/>
                  </a:lnTo>
                  <a:lnTo>
                    <a:pt x="0" y="50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5944262">
              <a:off x="621780" y="39557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5" y="0"/>
                  </a:lnTo>
                  <a:lnTo>
                    <a:pt x="693515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028700" y="9201032"/>
            <a:ext cx="2618082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0"/>
              </a:lnSpc>
              <a:spcBef>
                <a:spcPct val="0"/>
              </a:spcBef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Latar Belakang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24932" y="9201032"/>
            <a:ext cx="3317587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Oleh : Cahaya Dewi</a:t>
            </a:r>
          </a:p>
        </p:txBody>
      </p:sp>
      <p:sp>
        <p:nvSpPr>
          <p:cNvPr id="25" name="AutoShape 25"/>
          <p:cNvSpPr/>
          <p:nvPr/>
        </p:nvSpPr>
        <p:spPr>
          <a:xfrm>
            <a:off x="3742492" y="9407407"/>
            <a:ext cx="101824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2421893" y="5684975"/>
            <a:ext cx="12952282" cy="1493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7"/>
              </a:lnSpc>
              <a:spcBef>
                <a:spcPct val="0"/>
              </a:spcBef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Saya ingin kamu sebagai Business Analyst membantu mengidentifikasi masalah tersebut dan memberikan rekomendasi yang bisa dilakukan oleh tim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309845">
            <a:off x="-450839" y="6247984"/>
            <a:ext cx="2155755" cy="2693748"/>
            <a:chOff x="0" y="0"/>
            <a:chExt cx="2874340" cy="3591664"/>
          </a:xfrm>
        </p:grpSpPr>
        <p:sp>
          <p:nvSpPr>
            <p:cNvPr id="4" name="Freeform 4"/>
            <p:cNvSpPr/>
            <p:nvPr/>
          </p:nvSpPr>
          <p:spPr>
            <a:xfrm rot="4446401">
              <a:off x="2076512" y="2364915"/>
              <a:ext cx="256970" cy="370983"/>
            </a:xfrm>
            <a:custGeom>
              <a:avLst/>
              <a:gdLst/>
              <a:ahLst/>
              <a:cxnLst/>
              <a:rect l="l" t="t" r="r" b="b"/>
              <a:pathLst>
                <a:path w="256970" h="370983">
                  <a:moveTo>
                    <a:pt x="0" y="0"/>
                  </a:moveTo>
                  <a:lnTo>
                    <a:pt x="256970" y="0"/>
                  </a:lnTo>
                  <a:lnTo>
                    <a:pt x="256970" y="370984"/>
                  </a:lnTo>
                  <a:lnTo>
                    <a:pt x="0" y="3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4446401">
              <a:off x="1234228" y="1302346"/>
              <a:ext cx="288065" cy="353354"/>
            </a:xfrm>
            <a:custGeom>
              <a:avLst/>
              <a:gdLst/>
              <a:ahLst/>
              <a:cxnLst/>
              <a:rect l="l" t="t" r="r" b="b"/>
              <a:pathLst>
                <a:path w="288065" h="353354">
                  <a:moveTo>
                    <a:pt x="0" y="0"/>
                  </a:moveTo>
                  <a:lnTo>
                    <a:pt x="288065" y="0"/>
                  </a:lnTo>
                  <a:lnTo>
                    <a:pt x="288065" y="353354"/>
                  </a:lnTo>
                  <a:lnTo>
                    <a:pt x="0" y="35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944262">
              <a:off x="2117858" y="1331671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2709100">
              <a:off x="300777" y="1711490"/>
              <a:ext cx="1169144" cy="1334572"/>
            </a:xfrm>
            <a:custGeom>
              <a:avLst/>
              <a:gdLst/>
              <a:ahLst/>
              <a:cxnLst/>
              <a:rect l="l" t="t" r="r" b="b"/>
              <a:pathLst>
                <a:path w="1169144" h="1334572">
                  <a:moveTo>
                    <a:pt x="0" y="0"/>
                  </a:moveTo>
                  <a:lnTo>
                    <a:pt x="1169144" y="0"/>
                  </a:lnTo>
                  <a:lnTo>
                    <a:pt x="1169144" y="1334573"/>
                  </a:lnTo>
                  <a:lnTo>
                    <a:pt x="0" y="133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161751" t="-404672" r="-22320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4446401">
              <a:off x="1425074" y="284192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4446401">
              <a:off x="1759804" y="577797"/>
              <a:ext cx="359384" cy="440837"/>
            </a:xfrm>
            <a:custGeom>
              <a:avLst/>
              <a:gdLst/>
              <a:ahLst/>
              <a:cxnLst/>
              <a:rect l="l" t="t" r="r" b="b"/>
              <a:pathLst>
                <a:path w="359384" h="440837">
                  <a:moveTo>
                    <a:pt x="0" y="0"/>
                  </a:moveTo>
                  <a:lnTo>
                    <a:pt x="359384" y="0"/>
                  </a:lnTo>
                  <a:lnTo>
                    <a:pt x="359384" y="440837"/>
                  </a:lnTo>
                  <a:lnTo>
                    <a:pt x="0" y="44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4446401">
              <a:off x="805041" y="329419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4446401">
              <a:off x="2202801" y="3074680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0" y="0"/>
                  </a:lnTo>
                  <a:lnTo>
                    <a:pt x="409600" y="502435"/>
                  </a:lnTo>
                  <a:lnTo>
                    <a:pt x="0" y="50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5944262">
              <a:off x="621780" y="39557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5" y="0"/>
                  </a:lnTo>
                  <a:lnTo>
                    <a:pt x="693515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9194487">
            <a:off x="16086968" y="-28433"/>
            <a:ext cx="2731775" cy="1579463"/>
          </a:xfrm>
          <a:custGeom>
            <a:avLst/>
            <a:gdLst/>
            <a:ahLst/>
            <a:cxnLst/>
            <a:rect l="l" t="t" r="r" b="b"/>
            <a:pathLst>
              <a:path w="2731775" h="1579463">
                <a:moveTo>
                  <a:pt x="0" y="0"/>
                </a:moveTo>
                <a:lnTo>
                  <a:pt x="2731775" y="0"/>
                </a:lnTo>
                <a:lnTo>
                  <a:pt x="2731775" y="1579462"/>
                </a:lnTo>
                <a:lnTo>
                  <a:pt x="0" y="1579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Object 17"/>
          <p:cNvGraphicFramePr/>
          <p:nvPr>
            <p:extLst>
              <p:ext uri="{D42A27DB-BD31-4B8C-83A1-F6EECF244321}">
                <p14:modId xmlns:p14="http://schemas.microsoft.com/office/powerpoint/2010/main" val="112373212"/>
              </p:ext>
            </p:extLst>
          </p:nvPr>
        </p:nvGraphicFramePr>
        <p:xfrm>
          <a:off x="7258050" y="2580677"/>
          <a:ext cx="41719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Worksheet" r:id="rId9" imgW="4521200" imgH="4521200" progId="Excel.Sheet.12">
                  <p:embed/>
                </p:oleObj>
              </mc:Choice>
              <mc:Fallback>
                <p:oleObj name="Worksheet" r:id="rId9" imgW="4521200" imgH="452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58050" y="2580677"/>
                        <a:ext cx="41719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095" y="2908765"/>
            <a:ext cx="5644440" cy="314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868" b="1" spc="7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Business problem:</a:t>
            </a:r>
          </a:p>
          <a:p>
            <a:pPr algn="l">
              <a:lnSpc>
                <a:spcPts val="4158"/>
              </a:lnSpc>
            </a:pPr>
            <a:endParaRPr lang="en-US" sz="2868" b="1" spc="71">
              <a:solidFill>
                <a:srgbClr val="000000"/>
              </a:solidFill>
              <a:latin typeface="Klein Bold"/>
              <a:ea typeface="Klein Bold"/>
              <a:cs typeface="Klein Bold"/>
              <a:sym typeface="Klein Bold"/>
            </a:endParaRPr>
          </a:p>
          <a:p>
            <a:pPr marL="0" lvl="0" indent="0" algn="l">
              <a:lnSpc>
                <a:spcPts val="4158"/>
              </a:lnSpc>
              <a:spcBef>
                <a:spcPct val="0"/>
              </a:spcBef>
            </a:pPr>
            <a:r>
              <a:rPr lang="en-US" sz="2868" spc="7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“Order cancellation rate mencapai 14%, tetapi penyebab utama pembatalan belum diketahui.”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3262" y="1026811"/>
            <a:ext cx="15981476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55"/>
              </a:lnSpc>
              <a:spcBef>
                <a:spcPct val="0"/>
              </a:spcBef>
            </a:pPr>
            <a:r>
              <a:rPr lang="en-US" sz="10500" b="1" spc="-210">
                <a:solidFill>
                  <a:srgbClr val="2C5749"/>
                </a:solidFill>
                <a:latin typeface="Raleway Bold"/>
                <a:ea typeface="Raleway Bold"/>
                <a:cs typeface="Raleway Bold"/>
                <a:sym typeface="Raleway Bold"/>
              </a:rPr>
              <a:t>QUESTION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549982">
            <a:off x="712787" y="7587488"/>
            <a:ext cx="2395682" cy="2445493"/>
          </a:xfrm>
          <a:custGeom>
            <a:avLst/>
            <a:gdLst/>
            <a:ahLst/>
            <a:cxnLst/>
            <a:rect l="l" t="t" r="r" b="b"/>
            <a:pathLst>
              <a:path w="2395682" h="2445493">
                <a:moveTo>
                  <a:pt x="0" y="0"/>
                </a:moveTo>
                <a:lnTo>
                  <a:pt x="2395682" y="0"/>
                </a:lnTo>
                <a:lnTo>
                  <a:pt x="2395682" y="2445493"/>
                </a:lnTo>
                <a:lnTo>
                  <a:pt x="0" y="2445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92783">
            <a:off x="3270424" y="7977162"/>
            <a:ext cx="155386" cy="224329"/>
          </a:xfrm>
          <a:custGeom>
            <a:avLst/>
            <a:gdLst/>
            <a:ahLst/>
            <a:cxnLst/>
            <a:rect l="l" t="t" r="r" b="b"/>
            <a:pathLst>
              <a:path w="155386" h="224329">
                <a:moveTo>
                  <a:pt x="0" y="0"/>
                </a:moveTo>
                <a:lnTo>
                  <a:pt x="155386" y="0"/>
                </a:lnTo>
                <a:lnTo>
                  <a:pt x="155386" y="224328"/>
                </a:lnTo>
                <a:lnTo>
                  <a:pt x="0" y="224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574142" t="-122811" b="-331893"/>
            </a:stretch>
          </a:blipFill>
        </p:spPr>
      </p:sp>
      <p:sp>
        <p:nvSpPr>
          <p:cNvPr id="6" name="Freeform 6"/>
          <p:cNvSpPr/>
          <p:nvPr/>
        </p:nvSpPr>
        <p:spPr>
          <a:xfrm rot="1205078">
            <a:off x="2277912" y="8119860"/>
            <a:ext cx="520137" cy="539326"/>
          </a:xfrm>
          <a:custGeom>
            <a:avLst/>
            <a:gdLst/>
            <a:ahLst/>
            <a:cxnLst/>
            <a:rect l="l" t="t" r="r" b="b"/>
            <a:pathLst>
              <a:path w="520137" h="539326">
                <a:moveTo>
                  <a:pt x="0" y="0"/>
                </a:moveTo>
                <a:lnTo>
                  <a:pt x="520137" y="0"/>
                </a:lnTo>
                <a:lnTo>
                  <a:pt x="520137" y="539326"/>
                </a:lnTo>
                <a:lnTo>
                  <a:pt x="0" y="539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215391" t="-46581" r="-112418" b="-343535"/>
            </a:stretch>
          </a:blipFill>
        </p:spPr>
      </p:sp>
      <p:sp>
        <p:nvSpPr>
          <p:cNvPr id="7" name="Freeform 7"/>
          <p:cNvSpPr/>
          <p:nvPr/>
        </p:nvSpPr>
        <p:spPr>
          <a:xfrm rot="-292783">
            <a:off x="1799550" y="8414669"/>
            <a:ext cx="278210" cy="341265"/>
          </a:xfrm>
          <a:custGeom>
            <a:avLst/>
            <a:gdLst/>
            <a:ahLst/>
            <a:cxnLst/>
            <a:rect l="l" t="t" r="r" b="b"/>
            <a:pathLst>
              <a:path w="278210" h="341265">
                <a:moveTo>
                  <a:pt x="0" y="0"/>
                </a:moveTo>
                <a:lnTo>
                  <a:pt x="278210" y="0"/>
                </a:lnTo>
                <a:lnTo>
                  <a:pt x="278210" y="341265"/>
                </a:lnTo>
                <a:lnTo>
                  <a:pt x="0" y="341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322929" t="-183655" r="-116066" b="-238317"/>
            </a:stretch>
          </a:blipFill>
        </p:spPr>
      </p:sp>
      <p:sp>
        <p:nvSpPr>
          <p:cNvPr id="8" name="Freeform 8"/>
          <p:cNvSpPr/>
          <p:nvPr/>
        </p:nvSpPr>
        <p:spPr>
          <a:xfrm rot="-292783">
            <a:off x="3194517" y="8412317"/>
            <a:ext cx="307200" cy="376826"/>
          </a:xfrm>
          <a:custGeom>
            <a:avLst/>
            <a:gdLst/>
            <a:ahLst/>
            <a:cxnLst/>
            <a:rect l="l" t="t" r="r" b="b"/>
            <a:pathLst>
              <a:path w="307200" h="376826">
                <a:moveTo>
                  <a:pt x="0" y="0"/>
                </a:moveTo>
                <a:lnTo>
                  <a:pt x="307200" y="0"/>
                </a:lnTo>
                <a:lnTo>
                  <a:pt x="307200" y="376826"/>
                </a:lnTo>
                <a:lnTo>
                  <a:pt x="0" y="376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322929" t="-183655" r="-116066" b="-238317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4190319" y="9407407"/>
            <a:ext cx="973014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1484424" y="3510579"/>
            <a:ext cx="5354086" cy="4536371"/>
          </a:xfrm>
          <a:custGeom>
            <a:avLst/>
            <a:gdLst/>
            <a:ahLst/>
            <a:cxnLst/>
            <a:rect l="l" t="t" r="r" b="b"/>
            <a:pathLst>
              <a:path w="5354086" h="4536371">
                <a:moveTo>
                  <a:pt x="0" y="0"/>
                </a:moveTo>
                <a:lnTo>
                  <a:pt x="5354086" y="0"/>
                </a:lnTo>
                <a:lnTo>
                  <a:pt x="5354086" y="4536371"/>
                </a:lnTo>
                <a:lnTo>
                  <a:pt x="0" y="453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116908">
            <a:off x="12092430" y="3194050"/>
            <a:ext cx="3581027" cy="4396350"/>
          </a:xfrm>
          <a:custGeom>
            <a:avLst/>
            <a:gdLst/>
            <a:ahLst/>
            <a:cxnLst/>
            <a:rect l="l" t="t" r="r" b="b"/>
            <a:pathLst>
              <a:path w="3581027" h="4396350">
                <a:moveTo>
                  <a:pt x="0" y="0"/>
                </a:moveTo>
                <a:lnTo>
                  <a:pt x="3581027" y="0"/>
                </a:lnTo>
                <a:lnTo>
                  <a:pt x="3581027" y="4396350"/>
                </a:lnTo>
                <a:lnTo>
                  <a:pt x="0" y="4396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602647">
            <a:off x="13371600" y="3448603"/>
            <a:ext cx="1971060" cy="2521124"/>
          </a:xfrm>
          <a:custGeom>
            <a:avLst/>
            <a:gdLst/>
            <a:ahLst/>
            <a:cxnLst/>
            <a:rect l="l" t="t" r="r" b="b"/>
            <a:pathLst>
              <a:path w="1971060" h="2521124">
                <a:moveTo>
                  <a:pt x="0" y="0"/>
                </a:moveTo>
                <a:lnTo>
                  <a:pt x="1971060" y="0"/>
                </a:lnTo>
                <a:lnTo>
                  <a:pt x="1971060" y="2521124"/>
                </a:lnTo>
                <a:lnTo>
                  <a:pt x="0" y="2521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9201032"/>
            <a:ext cx="3018561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0"/>
              </a:lnSpc>
              <a:spcBef>
                <a:spcPct val="0"/>
              </a:spcBef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Manfaat Penelitian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67361" y="9201032"/>
            <a:ext cx="2975159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Oleh : Cahaya Dewi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6275" y="2812944"/>
            <a:ext cx="10705498" cy="502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1.     Sejak kapan cancelati</a:t>
            </a:r>
            <a:r>
              <a:rPr lang="en-US" sz="2750" u="none" strike="noStrike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on rate mulai meningkat ?</a:t>
            </a:r>
          </a:p>
          <a:p>
            <a:pPr algn="l">
              <a:lnSpc>
                <a:spcPts val="3987"/>
              </a:lnSpc>
            </a:pPr>
            <a:r>
              <a:rPr lang="en-US" sz="2750" u="none" strike="noStrike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2.     Faktot apa saja yang diduga menyebabkan cancelation rate ?</a:t>
            </a:r>
          </a:p>
          <a:p>
            <a:pPr algn="l">
              <a:lnSpc>
                <a:spcPts val="3987"/>
              </a:lnSpc>
            </a:pPr>
            <a:r>
              <a:rPr lang="en-US" sz="2750" u="none" strike="noStrike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3.     Berapa cancelation rate dan bagaimana trennya selama 3 bulan ?</a:t>
            </a:r>
          </a:p>
          <a:p>
            <a:pPr algn="l">
              <a:lnSpc>
                <a:spcPts val="3987"/>
              </a:lnSpc>
            </a:pPr>
            <a:r>
              <a:rPr lang="en-US" sz="2750" u="none" strike="noStrike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4.     Pada tahap proses/order apa cancelation paling sering terjadi ?</a:t>
            </a:r>
          </a:p>
          <a:p>
            <a:pPr algn="l">
              <a:lnSpc>
                <a:spcPts val="3987"/>
              </a:lnSpc>
            </a:pPr>
            <a:r>
              <a:rPr lang="en-US" sz="2750" u="none" strike="noStrike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5.     Apakah terdapat perbedaan cancelation berdasarkan payment, seller, produk, customer atau delivery ?</a:t>
            </a:r>
          </a:p>
        </p:txBody>
      </p:sp>
      <p:sp>
        <p:nvSpPr>
          <p:cNvPr id="20" name="Freeform 20"/>
          <p:cNvSpPr/>
          <p:nvPr/>
        </p:nvSpPr>
        <p:spPr>
          <a:xfrm rot="-9273115">
            <a:off x="15930957" y="-1003857"/>
            <a:ext cx="3977820" cy="3457087"/>
          </a:xfrm>
          <a:custGeom>
            <a:avLst/>
            <a:gdLst/>
            <a:ahLst/>
            <a:cxnLst/>
            <a:rect l="l" t="t" r="r" b="b"/>
            <a:pathLst>
              <a:path w="3977820" h="3457087">
                <a:moveTo>
                  <a:pt x="0" y="0"/>
                </a:moveTo>
                <a:lnTo>
                  <a:pt x="3977820" y="0"/>
                </a:lnTo>
                <a:lnTo>
                  <a:pt x="3977820" y="3457087"/>
                </a:lnTo>
                <a:lnTo>
                  <a:pt x="0" y="34570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3390" y="954616"/>
            <a:ext cx="15809129" cy="2499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1"/>
              </a:lnSpc>
            </a:pPr>
            <a:r>
              <a:rPr lang="en-US" sz="10386" spc="-207">
                <a:solidFill>
                  <a:srgbClr val="2C5749"/>
                </a:solidFill>
                <a:latin typeface="Raleway Light"/>
                <a:ea typeface="Raleway Light"/>
                <a:cs typeface="Raleway Light"/>
                <a:sym typeface="Raleway Light"/>
              </a:rPr>
              <a:t>ANSWER</a:t>
            </a:r>
          </a:p>
          <a:p>
            <a:pPr marL="0" lvl="0" indent="0" algn="ctr">
              <a:lnSpc>
                <a:spcPts val="9451"/>
              </a:lnSpc>
              <a:spcBef>
                <a:spcPct val="0"/>
              </a:spcBef>
            </a:pPr>
            <a:endParaRPr lang="en-US" sz="10386" spc="-207">
              <a:solidFill>
                <a:srgbClr val="2C574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6197428" y="7154597"/>
            <a:ext cx="659968" cy="2074185"/>
          </a:xfrm>
          <a:custGeom>
            <a:avLst/>
            <a:gdLst/>
            <a:ahLst/>
            <a:cxnLst/>
            <a:rect l="l" t="t" r="r" b="b"/>
            <a:pathLst>
              <a:path w="659968" h="2074185">
                <a:moveTo>
                  <a:pt x="0" y="0"/>
                </a:moveTo>
                <a:lnTo>
                  <a:pt x="659969" y="0"/>
                </a:lnTo>
                <a:lnTo>
                  <a:pt x="659969" y="2074186"/>
                </a:lnTo>
                <a:lnTo>
                  <a:pt x="0" y="2074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3422154" y="9407407"/>
            <a:ext cx="1049831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35095" y="2227279"/>
            <a:ext cx="16529410" cy="6294395"/>
            <a:chOff x="0" y="0"/>
            <a:chExt cx="4177854" cy="15909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77854" cy="1590926"/>
            </a:xfrm>
            <a:custGeom>
              <a:avLst/>
              <a:gdLst/>
              <a:ahLst/>
              <a:cxnLst/>
              <a:rect l="l" t="t" r="r" b="b"/>
              <a:pathLst>
                <a:path w="4177854" h="1590926">
                  <a:moveTo>
                    <a:pt x="14051" y="0"/>
                  </a:moveTo>
                  <a:lnTo>
                    <a:pt x="4163803" y="0"/>
                  </a:lnTo>
                  <a:cubicBezTo>
                    <a:pt x="4167530" y="0"/>
                    <a:pt x="4171104" y="1480"/>
                    <a:pt x="4173739" y="4115"/>
                  </a:cubicBezTo>
                  <a:cubicBezTo>
                    <a:pt x="4176374" y="6751"/>
                    <a:pt x="4177854" y="10325"/>
                    <a:pt x="4177854" y="14051"/>
                  </a:cubicBezTo>
                  <a:lnTo>
                    <a:pt x="4177854" y="1576875"/>
                  </a:lnTo>
                  <a:cubicBezTo>
                    <a:pt x="4177854" y="1580601"/>
                    <a:pt x="4176374" y="1584175"/>
                    <a:pt x="4173739" y="1586810"/>
                  </a:cubicBezTo>
                  <a:cubicBezTo>
                    <a:pt x="4171104" y="1589445"/>
                    <a:pt x="4167530" y="1590926"/>
                    <a:pt x="4163803" y="1590926"/>
                  </a:cubicBezTo>
                  <a:lnTo>
                    <a:pt x="14051" y="1590926"/>
                  </a:lnTo>
                  <a:cubicBezTo>
                    <a:pt x="10325" y="1590926"/>
                    <a:pt x="6751" y="1589445"/>
                    <a:pt x="4115" y="1586810"/>
                  </a:cubicBezTo>
                  <a:cubicBezTo>
                    <a:pt x="1480" y="1584175"/>
                    <a:pt x="0" y="1580601"/>
                    <a:pt x="0" y="1576875"/>
                  </a:cubicBezTo>
                  <a:lnTo>
                    <a:pt x="0" y="14051"/>
                  </a:lnTo>
                  <a:cubicBezTo>
                    <a:pt x="0" y="10325"/>
                    <a:pt x="1480" y="6751"/>
                    <a:pt x="4115" y="4115"/>
                  </a:cubicBezTo>
                  <a:cubicBezTo>
                    <a:pt x="6751" y="1480"/>
                    <a:pt x="10325" y="0"/>
                    <a:pt x="14051" y="0"/>
                  </a:cubicBezTo>
                  <a:close/>
                </a:path>
              </a:pathLst>
            </a:custGeom>
            <a:solidFill>
              <a:srgbClr val="B4540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177854" cy="1629026"/>
            </a:xfrm>
            <a:prstGeom prst="rect">
              <a:avLst/>
            </a:prstGeom>
          </p:spPr>
          <p:txBody>
            <a:bodyPr lIns="52935" tIns="52935" rIns="52935" bIns="52935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11445" y="2563468"/>
            <a:ext cx="15312024" cy="603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1.     “Kami melihat cancellation mulai meningkat sekitar 3 bulan terakhir. Sebelumnya cancellation rate berada di sekitar 8%, kemudian meningkat menjadi sekitar 14%.”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2.     “Itulah yang belum kami ketahui. Tim belum bisa memastikan apakah disebabkan customer, seller, pembayaran, produk, pengiriman, atau sistem.”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3.     “Dalam periode 3 bulan terdapat 100.000 order, dan sekitar 14.000 order dibatalkan.”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4.     “Kami belum mengetahui secara pasti pada tahap mana cancellation paling banyak terjadi.”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FFFFFF"/>
                </a:solidFill>
                <a:latin typeface="Klein"/>
                <a:ea typeface="Klein"/>
                <a:cs typeface="Klein"/>
                <a:sym typeface="Klein"/>
              </a:rPr>
              <a:t>5.     “Belum diketahui. Kami justru meminta kamu sebagai BA untuk melakukan investigasi dan mencari faktor yang paling berhubungan dengan cancellation.”</a:t>
            </a:r>
          </a:p>
          <a:p>
            <a:pPr marL="0" lvl="0" indent="0" algn="l">
              <a:lnSpc>
                <a:spcPts val="3987"/>
              </a:lnSpc>
              <a:spcBef>
                <a:spcPct val="0"/>
              </a:spcBef>
            </a:pPr>
            <a:endParaRPr lang="en-US" sz="2750" spc="68">
              <a:solidFill>
                <a:srgbClr val="FFFFFF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3" name="Freeform 13"/>
          <p:cNvSpPr/>
          <p:nvPr/>
        </p:nvSpPr>
        <p:spPr>
          <a:xfrm rot="-9235337">
            <a:off x="15646286" y="236006"/>
            <a:ext cx="3568258" cy="1637739"/>
          </a:xfrm>
          <a:custGeom>
            <a:avLst/>
            <a:gdLst/>
            <a:ahLst/>
            <a:cxnLst/>
            <a:rect l="l" t="t" r="r" b="b"/>
            <a:pathLst>
              <a:path w="3568258" h="1637739">
                <a:moveTo>
                  <a:pt x="0" y="0"/>
                </a:moveTo>
                <a:lnTo>
                  <a:pt x="3568258" y="0"/>
                </a:lnTo>
                <a:lnTo>
                  <a:pt x="3568258" y="1637739"/>
                </a:lnTo>
                <a:lnTo>
                  <a:pt x="0" y="1637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201032"/>
            <a:ext cx="2393454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0"/>
              </a:lnSpc>
              <a:spcBef>
                <a:spcPct val="0"/>
              </a:spcBef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Kajian Teori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20464" y="9201032"/>
            <a:ext cx="3322055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Oleh : Cahaya Dewi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059" y="293153"/>
            <a:ext cx="6104614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55"/>
              </a:lnSpc>
              <a:spcBef>
                <a:spcPct val="0"/>
              </a:spcBef>
            </a:pPr>
            <a:r>
              <a:rPr lang="en-US" sz="10500" spc="-210">
                <a:solidFill>
                  <a:srgbClr val="2C5749"/>
                </a:solidFill>
                <a:latin typeface="Raleway Light"/>
                <a:ea typeface="Raleway Light"/>
                <a:cs typeface="Raleway Light"/>
                <a:sym typeface="Raleway Light"/>
              </a:rPr>
              <a:t>DATASET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48155">
            <a:off x="-1096131" y="7114789"/>
            <a:ext cx="2639584" cy="2694466"/>
          </a:xfrm>
          <a:custGeom>
            <a:avLst/>
            <a:gdLst/>
            <a:ahLst/>
            <a:cxnLst/>
            <a:rect l="l" t="t" r="r" b="b"/>
            <a:pathLst>
              <a:path w="2639584" h="2694466">
                <a:moveTo>
                  <a:pt x="0" y="0"/>
                </a:moveTo>
                <a:lnTo>
                  <a:pt x="2639585" y="0"/>
                </a:lnTo>
                <a:lnTo>
                  <a:pt x="2639585" y="2694466"/>
                </a:lnTo>
                <a:lnTo>
                  <a:pt x="0" y="26944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059" y="1619595"/>
            <a:ext cx="14821241" cy="663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order_id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order_date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order_value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product_id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product_name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seller_id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age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age_group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payment_method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payment_provider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payment_status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device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duration_second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error_code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order_status </a:t>
            </a:r>
          </a:p>
          <a:p>
            <a:pPr marL="464252" lvl="1" indent="-232126" algn="l">
              <a:lnSpc>
                <a:spcPts val="3117"/>
              </a:lnSpc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cancellation_reason </a:t>
            </a:r>
          </a:p>
          <a:p>
            <a:pPr marL="464252" lvl="1" indent="-232126" algn="l">
              <a:lnSpc>
                <a:spcPts val="3117"/>
              </a:lnSpc>
              <a:spcBef>
                <a:spcPct val="0"/>
              </a:spcBef>
              <a:buFont typeface="Arial"/>
              <a:buChar char="•"/>
            </a:pPr>
            <a:r>
              <a:rPr lang="en-US" sz="2150" spc="53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shipping method</a:t>
            </a:r>
          </a:p>
        </p:txBody>
      </p:sp>
      <p:grpSp>
        <p:nvGrpSpPr>
          <p:cNvPr id="10" name="Group 10"/>
          <p:cNvGrpSpPr/>
          <p:nvPr/>
        </p:nvGrpSpPr>
        <p:grpSpPr>
          <a:xfrm rot="10409852">
            <a:off x="16726686" y="113401"/>
            <a:ext cx="2155755" cy="2693748"/>
            <a:chOff x="0" y="0"/>
            <a:chExt cx="2874340" cy="3591664"/>
          </a:xfrm>
        </p:grpSpPr>
        <p:sp>
          <p:nvSpPr>
            <p:cNvPr id="11" name="Freeform 11"/>
            <p:cNvSpPr/>
            <p:nvPr/>
          </p:nvSpPr>
          <p:spPr>
            <a:xfrm rot="4446401">
              <a:off x="2076512" y="2364915"/>
              <a:ext cx="256970" cy="370983"/>
            </a:xfrm>
            <a:custGeom>
              <a:avLst/>
              <a:gdLst/>
              <a:ahLst/>
              <a:cxnLst/>
              <a:rect l="l" t="t" r="r" b="b"/>
              <a:pathLst>
                <a:path w="256970" h="370983">
                  <a:moveTo>
                    <a:pt x="0" y="0"/>
                  </a:moveTo>
                  <a:lnTo>
                    <a:pt x="256970" y="0"/>
                  </a:lnTo>
                  <a:lnTo>
                    <a:pt x="256970" y="370984"/>
                  </a:lnTo>
                  <a:lnTo>
                    <a:pt x="0" y="3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4446401">
              <a:off x="1234228" y="1302346"/>
              <a:ext cx="288065" cy="353354"/>
            </a:xfrm>
            <a:custGeom>
              <a:avLst/>
              <a:gdLst/>
              <a:ahLst/>
              <a:cxnLst/>
              <a:rect l="l" t="t" r="r" b="b"/>
              <a:pathLst>
                <a:path w="288065" h="353354">
                  <a:moveTo>
                    <a:pt x="0" y="0"/>
                  </a:moveTo>
                  <a:lnTo>
                    <a:pt x="288065" y="0"/>
                  </a:lnTo>
                  <a:lnTo>
                    <a:pt x="288065" y="353354"/>
                  </a:lnTo>
                  <a:lnTo>
                    <a:pt x="0" y="35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944262">
              <a:off x="2117858" y="1331671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2709100">
              <a:off x="300777" y="1711490"/>
              <a:ext cx="1169144" cy="1334572"/>
            </a:xfrm>
            <a:custGeom>
              <a:avLst/>
              <a:gdLst/>
              <a:ahLst/>
              <a:cxnLst/>
              <a:rect l="l" t="t" r="r" b="b"/>
              <a:pathLst>
                <a:path w="1169144" h="1334572">
                  <a:moveTo>
                    <a:pt x="0" y="0"/>
                  </a:moveTo>
                  <a:lnTo>
                    <a:pt x="1169144" y="0"/>
                  </a:lnTo>
                  <a:lnTo>
                    <a:pt x="1169144" y="1334573"/>
                  </a:lnTo>
                  <a:lnTo>
                    <a:pt x="0" y="133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161751" t="-404672" r="-223204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4446401">
              <a:off x="1425074" y="284192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4446401">
              <a:off x="1759804" y="577797"/>
              <a:ext cx="359384" cy="440837"/>
            </a:xfrm>
            <a:custGeom>
              <a:avLst/>
              <a:gdLst/>
              <a:ahLst/>
              <a:cxnLst/>
              <a:rect l="l" t="t" r="r" b="b"/>
              <a:pathLst>
                <a:path w="359384" h="440837">
                  <a:moveTo>
                    <a:pt x="0" y="0"/>
                  </a:moveTo>
                  <a:lnTo>
                    <a:pt x="359384" y="0"/>
                  </a:lnTo>
                  <a:lnTo>
                    <a:pt x="359384" y="440837"/>
                  </a:lnTo>
                  <a:lnTo>
                    <a:pt x="0" y="44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4446401">
              <a:off x="805041" y="329419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4446401">
              <a:off x="2202801" y="3074680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0" y="0"/>
                  </a:lnTo>
                  <a:lnTo>
                    <a:pt x="409600" y="502435"/>
                  </a:lnTo>
                  <a:lnTo>
                    <a:pt x="0" y="50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944262">
              <a:off x="621780" y="39557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5" y="0"/>
                  </a:lnTo>
                  <a:lnTo>
                    <a:pt x="693515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9617" y="729325"/>
            <a:ext cx="15981476" cy="95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2C5749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ANALISIS YANG AKAN SAYA LAKUKAN UNTUK MENEMUKAN PENYEBAB CANCELLATION?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473676">
            <a:off x="-2783452" y="6180401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9" y="0"/>
                </a:lnTo>
                <a:lnTo>
                  <a:pt x="4054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2710" y="1839119"/>
            <a:ext cx="16855290" cy="654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1.     Saya akan menganalisis cancellation berdasarkan produk untuk mengetahui produk yang sering dibatalkan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2.     Saya akan menganalisis cancellation berdasarkan tokoh atau seller untuk mengetahui seller di sektor mana saja yang sering terjadi cancellation 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3.     Saya akan menganalisis cancellation berdasarkan tanggal, bulan dan tahun untuk mengetahui kapan cancellation terjadi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4.     Saya akan menganalisis cancellation berdasarkan metode pembayaran untuk mengetahui metode pembayaran mana yang paling banyak melakukan cancellation rate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5.     Saya akan menganalisis cancellation berdasarkan jasa pengiriman untuk mengetahui jasa pengiriman mana yang paling tinggi dalam cancellation produk</a:t>
            </a:r>
          </a:p>
          <a:p>
            <a:pPr algn="l">
              <a:lnSpc>
                <a:spcPts val="3987"/>
              </a:lnSpc>
            </a:pPr>
            <a:r>
              <a:rPr lang="en-US" sz="2750" spc="68">
                <a:solidFill>
                  <a:srgbClr val="824010"/>
                </a:solidFill>
                <a:latin typeface="Klein"/>
                <a:ea typeface="Klein"/>
                <a:cs typeface="Klein"/>
                <a:sym typeface="Klein"/>
              </a:rPr>
              <a:t>6.     Saya akan menganalisis alasan melakukan cancellation untuk mengetahui alasan utama dari cancellation rate</a:t>
            </a:r>
          </a:p>
          <a:p>
            <a:pPr marL="0" lvl="0" indent="0" algn="l">
              <a:lnSpc>
                <a:spcPts val="3987"/>
              </a:lnSpc>
              <a:spcBef>
                <a:spcPct val="0"/>
              </a:spcBef>
            </a:pPr>
            <a:endParaRPr lang="en-US" sz="2750" spc="68">
              <a:solidFill>
                <a:srgbClr val="82401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659803" y="-1364524"/>
            <a:ext cx="4082042" cy="3547665"/>
          </a:xfrm>
          <a:custGeom>
            <a:avLst/>
            <a:gdLst/>
            <a:ahLst/>
            <a:cxnLst/>
            <a:rect l="l" t="t" r="r" b="b"/>
            <a:pathLst>
              <a:path w="4082042" h="3547665">
                <a:moveTo>
                  <a:pt x="0" y="0"/>
                </a:moveTo>
                <a:lnTo>
                  <a:pt x="4082042" y="0"/>
                </a:lnTo>
                <a:lnTo>
                  <a:pt x="4082042" y="3547666"/>
                </a:lnTo>
                <a:lnTo>
                  <a:pt x="0" y="3547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09</a:t>
            </a:r>
          </a:p>
        </p:txBody>
      </p:sp>
      <p:sp>
        <p:nvSpPr>
          <p:cNvPr id="7" name="Freeform 7"/>
          <p:cNvSpPr/>
          <p:nvPr/>
        </p:nvSpPr>
        <p:spPr>
          <a:xfrm rot="-9588357">
            <a:off x="14849600" y="-913420"/>
            <a:ext cx="3977820" cy="3457087"/>
          </a:xfrm>
          <a:custGeom>
            <a:avLst/>
            <a:gdLst/>
            <a:ahLst/>
            <a:cxnLst/>
            <a:rect l="l" t="t" r="r" b="b"/>
            <a:pathLst>
              <a:path w="3977820" h="3457087">
                <a:moveTo>
                  <a:pt x="0" y="0"/>
                </a:moveTo>
                <a:lnTo>
                  <a:pt x="3977820" y="0"/>
                </a:lnTo>
                <a:lnTo>
                  <a:pt x="3977820" y="3457087"/>
                </a:lnTo>
                <a:lnTo>
                  <a:pt x="0" y="345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1316191" y="4623766"/>
            <a:ext cx="2731775" cy="1579463"/>
          </a:xfrm>
          <a:custGeom>
            <a:avLst/>
            <a:gdLst/>
            <a:ahLst/>
            <a:cxnLst/>
            <a:rect l="l" t="t" r="r" b="b"/>
            <a:pathLst>
              <a:path w="2731775" h="1579463">
                <a:moveTo>
                  <a:pt x="0" y="0"/>
                </a:moveTo>
                <a:lnTo>
                  <a:pt x="2731775" y="0"/>
                </a:lnTo>
                <a:lnTo>
                  <a:pt x="2731775" y="1579463"/>
                </a:lnTo>
                <a:lnTo>
                  <a:pt x="0" y="1579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35095" y="2022891"/>
            <a:ext cx="1356583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Dari database orders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tersebut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kita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dapat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menjalankan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query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dibawah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2400" spc="2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ini</a:t>
            </a:r>
            <a:r>
              <a:rPr lang="en-US" sz="2400" spc="2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775366"/>
            <a:ext cx="14096898" cy="485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SELECT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COUNT(*) AS total_order,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SUM(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CASE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WHEN order_status = 'cancelled' THEN 1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ELSE 0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END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) AS cancelled_order,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SUM(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CASE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WHEN order_status = 'cancelled' THEN 1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ELSE 0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END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) * 100.0 / COUNT(*) AS cancellation_rate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00" spc="179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FROM orders;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36258" y="2781300"/>
            <a:ext cx="9484221" cy="50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Berikut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hasil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dari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code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sql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penentuan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total_order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,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cancelled_order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dan</a:t>
            </a:r>
            <a:r>
              <a:rPr lang="en-US" sz="1400" b="1" spc="140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</a:t>
            </a:r>
            <a:r>
              <a:rPr lang="en-US" sz="1400" b="1" spc="140" dirty="0" err="1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cancellation_rate</a:t>
            </a:r>
            <a:endParaRPr lang="en-US" sz="1400" b="1" spc="140" dirty="0">
              <a:solidFill>
                <a:srgbClr val="000000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pic>
        <p:nvPicPr>
          <p:cNvPr id="1026" name="Picture 2" descr="kpi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3479156"/>
            <a:ext cx="7543800" cy="455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181350">
            <a:off x="9995973" y="7771229"/>
            <a:ext cx="2639584" cy="2694466"/>
          </a:xfrm>
          <a:custGeom>
            <a:avLst/>
            <a:gdLst/>
            <a:ahLst/>
            <a:cxnLst/>
            <a:rect l="l" t="t" r="r" b="b"/>
            <a:pathLst>
              <a:path w="2639584" h="2694466">
                <a:moveTo>
                  <a:pt x="0" y="0"/>
                </a:moveTo>
                <a:lnTo>
                  <a:pt x="2639585" y="0"/>
                </a:lnTo>
                <a:lnTo>
                  <a:pt x="2639585" y="2694466"/>
                </a:lnTo>
                <a:lnTo>
                  <a:pt x="0" y="26944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111457" y="7306552"/>
            <a:ext cx="1146552" cy="1422749"/>
            <a:chOff x="0" y="0"/>
            <a:chExt cx="1528736" cy="1896999"/>
          </a:xfrm>
        </p:grpSpPr>
        <p:sp>
          <p:nvSpPr>
            <p:cNvPr id="6" name="Freeform 6"/>
            <p:cNvSpPr/>
            <p:nvPr/>
          </p:nvSpPr>
          <p:spPr>
            <a:xfrm rot="2079848">
              <a:off x="364245" y="32373"/>
              <a:ext cx="207182" cy="299105"/>
            </a:xfrm>
            <a:custGeom>
              <a:avLst/>
              <a:gdLst/>
              <a:ahLst/>
              <a:cxnLst/>
              <a:rect l="l" t="t" r="r" b="b"/>
              <a:pathLst>
                <a:path w="207182" h="299105">
                  <a:moveTo>
                    <a:pt x="0" y="0"/>
                  </a:moveTo>
                  <a:lnTo>
                    <a:pt x="207182" y="0"/>
                  </a:lnTo>
                  <a:lnTo>
                    <a:pt x="207182" y="299105"/>
                  </a:lnTo>
                  <a:lnTo>
                    <a:pt x="0" y="299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3577709">
              <a:off x="385117" y="609320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2079848">
              <a:off x="96478" y="1271584"/>
              <a:ext cx="370947" cy="455020"/>
            </a:xfrm>
            <a:custGeom>
              <a:avLst/>
              <a:gdLst/>
              <a:ahLst/>
              <a:cxnLst/>
              <a:rect l="l" t="t" r="r" b="b"/>
              <a:pathLst>
                <a:path w="370947" h="455020">
                  <a:moveTo>
                    <a:pt x="0" y="0"/>
                  </a:moveTo>
                  <a:lnTo>
                    <a:pt x="370947" y="0"/>
                  </a:lnTo>
                  <a:lnTo>
                    <a:pt x="370947" y="455021"/>
                  </a:lnTo>
                  <a:lnTo>
                    <a:pt x="0" y="455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079848">
              <a:off x="1012604" y="1322672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1" y="0"/>
                  </a:lnTo>
                  <a:lnTo>
                    <a:pt x="409601" y="502434"/>
                  </a:lnTo>
                  <a:lnTo>
                    <a:pt x="0" y="502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10</a:t>
            </a:r>
          </a:p>
        </p:txBody>
      </p:sp>
      <p:sp>
        <p:nvSpPr>
          <p:cNvPr id="25" name="Freeform 25"/>
          <p:cNvSpPr/>
          <p:nvPr/>
        </p:nvSpPr>
        <p:spPr>
          <a:xfrm rot="-6827108">
            <a:off x="15775034" y="559463"/>
            <a:ext cx="3568258" cy="1637739"/>
          </a:xfrm>
          <a:custGeom>
            <a:avLst/>
            <a:gdLst/>
            <a:ahLst/>
            <a:cxnLst/>
            <a:rect l="l" t="t" r="r" b="b"/>
            <a:pathLst>
              <a:path w="3568258" h="1637739">
                <a:moveTo>
                  <a:pt x="0" y="0"/>
                </a:moveTo>
                <a:lnTo>
                  <a:pt x="3568258" y="0"/>
                </a:lnTo>
                <a:lnTo>
                  <a:pt x="3568258" y="1637739"/>
                </a:lnTo>
                <a:lnTo>
                  <a:pt x="0" y="16377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300821"/>
              </p:ext>
            </p:extLst>
          </p:nvPr>
        </p:nvGraphicFramePr>
        <p:xfrm>
          <a:off x="3429000" y="2019300"/>
          <a:ext cx="10305736" cy="2471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52868"/>
                <a:gridCol w="5152868"/>
              </a:tblGrid>
              <a:tr h="6179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KPI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Hasil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179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Total Order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179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Cancelled Order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172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179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Cancellation 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17,20%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038600" y="4815372"/>
            <a:ext cx="9144000" cy="22491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KPI yang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memungkinkan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tabel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diatas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total order 1000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172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dibatalkan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cancellation rate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sebesar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17.20%.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Artinya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sekitar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100 order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dataset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mengalami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pembatalan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901776" y="9407407"/>
            <a:ext cx="10018688" cy="9525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201032"/>
            <a:ext cx="2873076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0"/>
              </a:lnSpc>
              <a:spcBef>
                <a:spcPct val="0"/>
              </a:spcBef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Daftar Pustaka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20464" y="9201032"/>
            <a:ext cx="3322055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0"/>
              </a:lnSpc>
            </a:pPr>
            <a:r>
              <a:rPr lang="en-US" sz="2000" spc="50">
                <a:solidFill>
                  <a:srgbClr val="F2F1EC"/>
                </a:solidFill>
                <a:latin typeface="Klein"/>
                <a:ea typeface="Klein"/>
                <a:cs typeface="Klein"/>
                <a:sym typeface="Klein"/>
              </a:rPr>
              <a:t>Oleh : Cahaya Dewi</a:t>
            </a:r>
          </a:p>
        </p:txBody>
      </p:sp>
      <p:sp>
        <p:nvSpPr>
          <p:cNvPr id="25" name="Freeform 25"/>
          <p:cNvSpPr/>
          <p:nvPr/>
        </p:nvSpPr>
        <p:spPr>
          <a:xfrm rot="-6398213">
            <a:off x="814466" y="6465412"/>
            <a:ext cx="2334012" cy="1349483"/>
          </a:xfrm>
          <a:custGeom>
            <a:avLst/>
            <a:gdLst/>
            <a:ahLst/>
            <a:cxnLst/>
            <a:rect l="l" t="t" r="r" b="b"/>
            <a:pathLst>
              <a:path w="2334012" h="1349483">
                <a:moveTo>
                  <a:pt x="0" y="0"/>
                </a:moveTo>
                <a:lnTo>
                  <a:pt x="2334012" y="0"/>
                </a:lnTo>
                <a:lnTo>
                  <a:pt x="2334012" y="1349483"/>
                </a:lnTo>
                <a:lnTo>
                  <a:pt x="0" y="1349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5290515">
            <a:off x="16315722" y="7352098"/>
            <a:ext cx="530740" cy="1668041"/>
          </a:xfrm>
          <a:custGeom>
            <a:avLst/>
            <a:gdLst/>
            <a:ahLst/>
            <a:cxnLst/>
            <a:rect l="l" t="t" r="r" b="b"/>
            <a:pathLst>
              <a:path w="530740" h="1668041">
                <a:moveTo>
                  <a:pt x="0" y="0"/>
                </a:moveTo>
                <a:lnTo>
                  <a:pt x="530740" y="0"/>
                </a:lnTo>
                <a:lnTo>
                  <a:pt x="530740" y="1668041"/>
                </a:lnTo>
                <a:lnTo>
                  <a:pt x="0" y="16680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Rectangle 26"/>
          <p:cNvSpPr/>
          <p:nvPr/>
        </p:nvSpPr>
        <p:spPr>
          <a:xfrm>
            <a:off x="3062447" y="841437"/>
            <a:ext cx="9822754" cy="4875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Selanjutnya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menganalisi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failure rate yang </a:t>
            </a: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dataset orders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693530" y="1653469"/>
            <a:ext cx="9144000" cy="65616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COUNT(*) AS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total_payment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payment_status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'failed'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AS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failed_payment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payment_status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'failed'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payment_failure_rate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FROM orders;</a:t>
            </a:r>
            <a:endParaRPr lang="en-US" sz="1600" dirty="0"/>
          </a:p>
        </p:txBody>
      </p:sp>
      <p:pic>
        <p:nvPicPr>
          <p:cNvPr id="29" name="Picture 28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604" y="1686270"/>
            <a:ext cx="9341349" cy="5133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35095" y="729398"/>
            <a:ext cx="1275606" cy="6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9273115">
            <a:off x="15451019" y="-1038244"/>
            <a:ext cx="3977820" cy="3457087"/>
          </a:xfrm>
          <a:custGeom>
            <a:avLst/>
            <a:gdLst/>
            <a:ahLst/>
            <a:cxnLst/>
            <a:rect l="l" t="t" r="r" b="b"/>
            <a:pathLst>
              <a:path w="3977820" h="3457087">
                <a:moveTo>
                  <a:pt x="0" y="0"/>
                </a:moveTo>
                <a:lnTo>
                  <a:pt x="3977820" y="0"/>
                </a:lnTo>
                <a:lnTo>
                  <a:pt x="3977820" y="3457087"/>
                </a:lnTo>
                <a:lnTo>
                  <a:pt x="0" y="345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309845">
            <a:off x="-482856" y="5325506"/>
            <a:ext cx="2155755" cy="2693748"/>
            <a:chOff x="0" y="0"/>
            <a:chExt cx="2874340" cy="3591664"/>
          </a:xfrm>
        </p:grpSpPr>
        <p:sp>
          <p:nvSpPr>
            <p:cNvPr id="13" name="Freeform 13"/>
            <p:cNvSpPr/>
            <p:nvPr/>
          </p:nvSpPr>
          <p:spPr>
            <a:xfrm rot="4446401">
              <a:off x="2076512" y="2364915"/>
              <a:ext cx="256970" cy="370983"/>
            </a:xfrm>
            <a:custGeom>
              <a:avLst/>
              <a:gdLst/>
              <a:ahLst/>
              <a:cxnLst/>
              <a:rect l="l" t="t" r="r" b="b"/>
              <a:pathLst>
                <a:path w="256970" h="370983">
                  <a:moveTo>
                    <a:pt x="0" y="0"/>
                  </a:moveTo>
                  <a:lnTo>
                    <a:pt x="256970" y="0"/>
                  </a:lnTo>
                  <a:lnTo>
                    <a:pt x="256970" y="370984"/>
                  </a:lnTo>
                  <a:lnTo>
                    <a:pt x="0" y="3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574142" t="-122811" b="-331893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4446401">
              <a:off x="1234228" y="1302346"/>
              <a:ext cx="288065" cy="353354"/>
            </a:xfrm>
            <a:custGeom>
              <a:avLst/>
              <a:gdLst/>
              <a:ahLst/>
              <a:cxnLst/>
              <a:rect l="l" t="t" r="r" b="b"/>
              <a:pathLst>
                <a:path w="288065" h="353354">
                  <a:moveTo>
                    <a:pt x="0" y="0"/>
                  </a:moveTo>
                  <a:lnTo>
                    <a:pt x="288065" y="0"/>
                  </a:lnTo>
                  <a:lnTo>
                    <a:pt x="288065" y="353354"/>
                  </a:lnTo>
                  <a:lnTo>
                    <a:pt x="0" y="35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5944262">
              <a:off x="2117858" y="1331671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6" y="0"/>
                  </a:lnTo>
                  <a:lnTo>
                    <a:pt x="693516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2709100">
              <a:off x="300777" y="1711490"/>
              <a:ext cx="1169144" cy="1334572"/>
            </a:xfrm>
            <a:custGeom>
              <a:avLst/>
              <a:gdLst/>
              <a:ahLst/>
              <a:cxnLst/>
              <a:rect l="l" t="t" r="r" b="b"/>
              <a:pathLst>
                <a:path w="1169144" h="1334572">
                  <a:moveTo>
                    <a:pt x="0" y="0"/>
                  </a:moveTo>
                  <a:lnTo>
                    <a:pt x="1169144" y="0"/>
                  </a:lnTo>
                  <a:lnTo>
                    <a:pt x="1169144" y="1334573"/>
                  </a:lnTo>
                  <a:lnTo>
                    <a:pt x="0" y="133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161751" t="-404672" r="-223204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4446401">
              <a:off x="1425074" y="284192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4446401">
              <a:off x="1759804" y="577797"/>
              <a:ext cx="359384" cy="440837"/>
            </a:xfrm>
            <a:custGeom>
              <a:avLst/>
              <a:gdLst/>
              <a:ahLst/>
              <a:cxnLst/>
              <a:rect l="l" t="t" r="r" b="b"/>
              <a:pathLst>
                <a:path w="359384" h="440837">
                  <a:moveTo>
                    <a:pt x="0" y="0"/>
                  </a:moveTo>
                  <a:lnTo>
                    <a:pt x="359384" y="0"/>
                  </a:lnTo>
                  <a:lnTo>
                    <a:pt x="359384" y="440837"/>
                  </a:lnTo>
                  <a:lnTo>
                    <a:pt x="0" y="44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4446401">
              <a:off x="805041" y="3294196"/>
              <a:ext cx="206408" cy="253189"/>
            </a:xfrm>
            <a:custGeom>
              <a:avLst/>
              <a:gdLst/>
              <a:ahLst/>
              <a:cxnLst/>
              <a:rect l="l" t="t" r="r" b="b"/>
              <a:pathLst>
                <a:path w="206408" h="253189">
                  <a:moveTo>
                    <a:pt x="0" y="0"/>
                  </a:moveTo>
                  <a:lnTo>
                    <a:pt x="206408" y="0"/>
                  </a:lnTo>
                  <a:lnTo>
                    <a:pt x="206408" y="253189"/>
                  </a:lnTo>
                  <a:lnTo>
                    <a:pt x="0" y="253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4446401">
              <a:off x="2202801" y="3074680"/>
              <a:ext cx="409600" cy="502435"/>
            </a:xfrm>
            <a:custGeom>
              <a:avLst/>
              <a:gdLst/>
              <a:ahLst/>
              <a:cxnLst/>
              <a:rect l="l" t="t" r="r" b="b"/>
              <a:pathLst>
                <a:path w="409600" h="502435">
                  <a:moveTo>
                    <a:pt x="0" y="0"/>
                  </a:moveTo>
                  <a:lnTo>
                    <a:pt x="409600" y="0"/>
                  </a:lnTo>
                  <a:lnTo>
                    <a:pt x="409600" y="502435"/>
                  </a:lnTo>
                  <a:lnTo>
                    <a:pt x="0" y="50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322929" t="-183655" r="-116066" b="-238317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944262">
              <a:off x="621780" y="39557"/>
              <a:ext cx="693516" cy="719101"/>
            </a:xfrm>
            <a:custGeom>
              <a:avLst/>
              <a:gdLst/>
              <a:ahLst/>
              <a:cxnLst/>
              <a:rect l="l" t="t" r="r" b="b"/>
              <a:pathLst>
                <a:path w="693516" h="719101">
                  <a:moveTo>
                    <a:pt x="0" y="0"/>
                  </a:moveTo>
                  <a:lnTo>
                    <a:pt x="693515" y="0"/>
                  </a:lnTo>
                  <a:lnTo>
                    <a:pt x="693515" y="719101"/>
                  </a:lnTo>
                  <a:lnTo>
                    <a:pt x="0" y="71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 l="-215391" t="-46581" r="-112418" b="-343535"/>
              </a:stretch>
            </a:blipFill>
          </p:spPr>
        </p:sp>
      </p:grp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58869"/>
              </p:ext>
            </p:extLst>
          </p:nvPr>
        </p:nvGraphicFramePr>
        <p:xfrm>
          <a:off x="3505200" y="1724370"/>
          <a:ext cx="9528494" cy="15062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64247"/>
                <a:gridCol w="4764247"/>
              </a:tblGrid>
              <a:tr h="2750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KPI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Hasil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50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Total Payment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50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Failed Payment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149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50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Payment Failure 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14,90%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3505200" y="3580953"/>
            <a:ext cx="9144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 1000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pembayaran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149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gagal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payment failure rate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sebesar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14,90%.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KPI yang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dijadikan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awal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dianalisa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186844"/>
              </p:ext>
            </p:extLst>
          </p:nvPr>
        </p:nvGraphicFramePr>
        <p:xfrm>
          <a:off x="3519053" y="4853496"/>
          <a:ext cx="9434946" cy="13284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7473"/>
                <a:gridCol w="4717473"/>
              </a:tblGrid>
              <a:tr h="4428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KPI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Nilai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428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Cancellation 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17,20%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428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Payment Failure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14,90%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3505200" y="6639037"/>
            <a:ext cx="9144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 2 data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ketahui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penyebab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cancellation rate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semuanya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disebabkan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oleh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payment failure.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Selanjutnya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mencari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evidence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lanjut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21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22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13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67000" y="815468"/>
            <a:ext cx="9144000" cy="71709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total_payment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error_code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'TIMEOUT'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timeout_transaction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error_code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'TIMEOUT'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timeout_rate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811605"/>
            <a:ext cx="9144000" cy="501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0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14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949757"/>
              </p:ext>
            </p:extLst>
          </p:nvPr>
        </p:nvGraphicFramePr>
        <p:xfrm>
          <a:off x="3276600" y="842736"/>
          <a:ext cx="10820400" cy="1641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10200"/>
                <a:gridCol w="5410200"/>
              </a:tblGrid>
              <a:tr h="3131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KPI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Nilai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31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Total Payment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31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Timeout Transaction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131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Timeout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38500" y="2534294"/>
            <a:ext cx="10858500" cy="1380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diatas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implementasikan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MY SQL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diatas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Dari 1000 total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pembayaran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66 timeout transaction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memperoleh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6,00% timeout rate.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sekarang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mendapatkan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KPI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jadikan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acuan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aktual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value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cancellation, payment failure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payment timeout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tabel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46060"/>
              </p:ext>
            </p:extLst>
          </p:nvPr>
        </p:nvGraphicFramePr>
        <p:xfrm>
          <a:off x="3200401" y="4561840"/>
          <a:ext cx="10972800" cy="1641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346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KPI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 smtClean="0">
                          <a:effectLst/>
                        </a:rPr>
                        <a:t>Jumlah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346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Cancellation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172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17,20%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346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Payment Failure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149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14,90%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346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Payment Timeout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smtClean="0">
                          <a:effectLst/>
                        </a:rPr>
                        <a:t>66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6,00%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23260" y="6438900"/>
            <a:ext cx="108737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menentukan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bagaimana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KPI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cancellation paling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17,20%.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15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785584"/>
              </p:ext>
            </p:extLst>
          </p:nvPr>
        </p:nvGraphicFramePr>
        <p:xfrm>
          <a:off x="2743200" y="784330"/>
          <a:ext cx="11963400" cy="2486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87800"/>
                <a:gridCol w="3987800"/>
                <a:gridCol w="3987800"/>
              </a:tblGrid>
              <a:tr h="5841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KPI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Overall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Segment S001 + Paylater + 26–35 + Android + Maret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</a:tr>
              <a:tr h="299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Total </a:t>
                      </a:r>
                      <a:r>
                        <a:rPr lang="en-US" sz="2400" dirty="0" err="1">
                          <a:effectLst/>
                        </a:rPr>
                        <a:t>transaksi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</a:tr>
              <a:tr h="299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Cancellation 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17,20%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40,00%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</a:tr>
              <a:tr h="299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Payment Failure Rate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14,90%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60,00%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</a:tr>
              <a:tr h="299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Timeout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40,00%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847" marR="13847" marT="13847" marB="13847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667000" y="3392211"/>
            <a:ext cx="12115800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Cancellation Rate KPI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2,3 x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daripada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keseluruhan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termasuk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payment failure rate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timeout rate.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Selanjutnya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mencari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apakah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terkonsentrasi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seller S001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kodenya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82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16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19400" y="993321"/>
            <a:ext cx="9144000" cy="67719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total_transaction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order_status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'cancelled'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cancelled_order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order_status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'cancelled'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cancellation_rate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0" y="993321"/>
            <a:ext cx="9144000" cy="63730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payment_status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'failed'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payment_failure_rate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error_code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'TIMEOUT'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timeout_rate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seller_id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'S001';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655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4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5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17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895600" y="571500"/>
            <a:ext cx="8839200" cy="212810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37339"/>
              </p:ext>
            </p:extLst>
          </p:nvPr>
        </p:nvGraphicFramePr>
        <p:xfrm>
          <a:off x="2895600" y="3019691"/>
          <a:ext cx="8839200" cy="20520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6400"/>
                <a:gridCol w="2946400"/>
                <a:gridCol w="2946400"/>
              </a:tblGrid>
              <a:tr h="3036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KPI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Overall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S001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03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 transaksi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178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03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Cancellation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17,20%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21,91%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03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Payment Failure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14,90%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21,35%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03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Timeout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6,00%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9,56%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895600" y="5217223"/>
            <a:ext cx="8839200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Seller S001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cancellation, payment failure,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timeout rate yang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daripada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keseluruhan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487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1104900"/>
            <a:ext cx="9144000" cy="48341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seller_id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COUNT(*) AS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total_transaction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order_status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'cancelled' THEN 1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AS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cancelled_order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order_status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'cancelled' THEN 1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87000" y="1104900"/>
            <a:ext cx="9144000" cy="6612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cancellation_rate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payment_status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'failed'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payment_failure_rate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SUM(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CASE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WHEN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error_code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'TIMEOUT' THEN 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ELSE 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) * 100.0 / COUNT(*) AS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timeout_rate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seller_id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cancellation_rate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18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740035" y="8600730"/>
            <a:ext cx="19768070" cy="1686270"/>
            <a:chOff x="0" y="0"/>
            <a:chExt cx="5206405" cy="444120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8" name="TextBox 7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5460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29452"/>
              </p:ext>
            </p:extLst>
          </p:nvPr>
        </p:nvGraphicFramePr>
        <p:xfrm>
          <a:off x="3962400" y="1181100"/>
          <a:ext cx="11583355" cy="2853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4765"/>
                <a:gridCol w="1654765"/>
                <a:gridCol w="1654765"/>
                <a:gridCol w="1654765"/>
                <a:gridCol w="1654765"/>
                <a:gridCol w="1654765"/>
                <a:gridCol w="1654765"/>
              </a:tblGrid>
              <a:tr h="50321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Rank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Seller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Cancelled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Cancellation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Failure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Timeout Rate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581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S007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22,35%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18,82%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9,41%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581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S001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178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21,91%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21,35%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9,56%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581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S008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20,59%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15,69%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7,84%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581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S010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20,00%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16,84%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5,26%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5812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...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...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...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...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...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...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...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128452"/>
            <a:ext cx="11582400" cy="27676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400" y="6858952"/>
            <a:ext cx="9144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konsep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penting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S007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cancellation rate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tertinggi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22,35%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Tetapi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S001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cancellation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terbesar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39 order</a:t>
            </a:r>
            <a:endParaRPr lang="en-US" dirty="0"/>
          </a:p>
        </p:txBody>
      </p:sp>
      <p:sp>
        <p:nvSpPr>
          <p:cNvPr id="5" name="Freeform 4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19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-762000" y="9029700"/>
            <a:ext cx="19768070" cy="1686270"/>
            <a:chOff x="0" y="0"/>
            <a:chExt cx="5206405" cy="444120"/>
          </a:xfrm>
        </p:grpSpPr>
        <p:sp>
          <p:nvSpPr>
            <p:cNvPr id="8" name="Freeform 7"/>
            <p:cNvSpPr/>
            <p:nvPr/>
          </p:nvSpPr>
          <p:spPr>
            <a:xfrm>
              <a:off x="0" y="0"/>
              <a:ext cx="5206405" cy="444120"/>
            </a:xfrm>
            <a:custGeom>
              <a:avLst/>
              <a:gdLst/>
              <a:ahLst/>
              <a:cxnLst/>
              <a:rect l="l" t="t" r="r" b="b"/>
              <a:pathLst>
                <a:path w="5206405" h="444120">
                  <a:moveTo>
                    <a:pt x="0" y="0"/>
                  </a:moveTo>
                  <a:lnTo>
                    <a:pt x="5206405" y="0"/>
                  </a:lnTo>
                  <a:lnTo>
                    <a:pt x="5206405" y="444120"/>
                  </a:lnTo>
                  <a:lnTo>
                    <a:pt x="0" y="444120"/>
                  </a:lnTo>
                  <a:close/>
                </a:path>
              </a:pathLst>
            </a:custGeom>
            <a:solidFill>
              <a:srgbClr val="2C5749"/>
            </a:solidFill>
          </p:spPr>
        </p:sp>
        <p:sp>
          <p:nvSpPr>
            <p:cNvPr id="9" name="TextBox 8"/>
            <p:cNvSpPr txBox="1"/>
            <p:nvPr/>
          </p:nvSpPr>
          <p:spPr>
            <a:xfrm>
              <a:off x="0" y="-47625"/>
              <a:ext cx="5206405" cy="491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7754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7498" y="2040065"/>
            <a:ext cx="15163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Jadi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temuan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kita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Seller S001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cancellation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tertinggi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39 cancelled orders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178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transaksi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Cancellation rate S001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sebesar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21,91%,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tinggi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dibandingkan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baseline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keseluruhan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sebesar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17,20%.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Selain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payment failure rate S001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mencapai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21,35%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timeout rate 9,56%,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masing-masing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tinggi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dibandingkan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baseline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keseluruhan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sebesar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14,90%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6,00%.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Freeform 2"/>
          <p:cNvSpPr/>
          <p:nvPr/>
        </p:nvSpPr>
        <p:spPr>
          <a:xfrm flipH="1">
            <a:off x="-3446089" y="409309"/>
            <a:ext cx="5756790" cy="1276961"/>
          </a:xfrm>
          <a:custGeom>
            <a:avLst/>
            <a:gdLst/>
            <a:ahLst/>
            <a:cxnLst/>
            <a:rect l="l" t="t" r="r" b="b"/>
            <a:pathLst>
              <a:path w="5756790" h="1276961">
                <a:moveTo>
                  <a:pt x="5756790" y="0"/>
                </a:moveTo>
                <a:lnTo>
                  <a:pt x="0" y="0"/>
                </a:lnTo>
                <a:lnTo>
                  <a:pt x="0" y="1276961"/>
                </a:lnTo>
                <a:lnTo>
                  <a:pt x="5756790" y="1276961"/>
                </a:lnTo>
                <a:lnTo>
                  <a:pt x="5756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035095" y="729398"/>
            <a:ext cx="1275606" cy="62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499" spc="349" dirty="0" smtClean="0">
                <a:solidFill>
                  <a:srgbClr val="F7F7F7"/>
                </a:solidFill>
                <a:latin typeface="Klein"/>
                <a:ea typeface="Klein"/>
                <a:cs typeface="Klein"/>
                <a:sym typeface="Klein"/>
              </a:rPr>
              <a:t>20</a:t>
            </a:r>
            <a:endParaRPr lang="en-US" sz="3499" spc="349" dirty="0">
              <a:solidFill>
                <a:srgbClr val="F7F7F7"/>
              </a:solidFill>
              <a:latin typeface="Klein"/>
              <a:ea typeface="Klein"/>
              <a:cs typeface="Klein"/>
              <a:sym typeface="Klein"/>
            </a:endParaRPr>
          </a:p>
        </p:txBody>
      </p:sp>
    </p:spTree>
    <p:extLst>
      <p:ext uri="{BB962C8B-B14F-4D97-AF65-F5344CB8AC3E}">
        <p14:creationId xmlns:p14="http://schemas.microsoft.com/office/powerpoint/2010/main" val="828611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1056</Words>
  <Application>Microsoft Office PowerPoint</Application>
  <PresentationFormat>Custom</PresentationFormat>
  <Paragraphs>327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Klein</vt:lpstr>
      <vt:lpstr>Times New Roman</vt:lpstr>
      <vt:lpstr>Klein Bold</vt:lpstr>
      <vt:lpstr>Arial</vt:lpstr>
      <vt:lpstr>Raleway Light</vt:lpstr>
      <vt:lpstr>Raleway Bold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Penyebab Pembatalan Pesanan pada Toko Online</dc:title>
  <cp:lastModifiedBy>PC</cp:lastModifiedBy>
  <cp:revision>13</cp:revision>
  <dcterms:created xsi:type="dcterms:W3CDTF">2006-08-16T00:00:00Z</dcterms:created>
  <dcterms:modified xsi:type="dcterms:W3CDTF">2026-10-11T21:52:00Z</dcterms:modified>
  <dc:identifier>DAHXKpQ_-X4</dc:identifier>
</cp:coreProperties>
</file>